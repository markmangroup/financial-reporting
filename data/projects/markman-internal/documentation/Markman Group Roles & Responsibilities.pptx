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147473104" r:id="rId2"/>
    <p:sldId id="310" r:id="rId3"/>
    <p:sldId id="2147473106" r:id="rId4"/>
    <p:sldId id="2147473107" r:id="rId5"/>
    <p:sldId id="2147473112" r:id="rId6"/>
    <p:sldId id="2147473108" r:id="rId7"/>
    <p:sldId id="2147473109" r:id="rId8"/>
    <p:sldId id="2147473110" r:id="rId9"/>
    <p:sldId id="2147473111" r:id="rId10"/>
    <p:sldId id="214747310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59EA54-7C84-4F0C-9837-F5E55CEDDA33}">
          <p14:sldIdLst>
            <p14:sldId id="2147473104"/>
            <p14:sldId id="310"/>
            <p14:sldId id="2147473106"/>
            <p14:sldId id="2147473107"/>
            <p14:sldId id="2147473112"/>
            <p14:sldId id="2147473108"/>
            <p14:sldId id="2147473109"/>
            <p14:sldId id="2147473110"/>
            <p14:sldId id="2147473111"/>
          </p14:sldIdLst>
        </p14:section>
        <p14:section name="Annex" id="{14235812-DF62-419E-B6B0-A4F0E0CDC90C}">
          <p14:sldIdLst>
            <p14:sldId id="21474731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A15A6-324A-4404-B5EB-A18C357F3863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27238-A46E-4EF8-8114-A8C0E59F07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676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A7C4A432-8A6E-03A6-8EBD-BDBC00D9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3494380B-B1D9-5DFD-F953-4E35E8621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7AC278DD-1D3E-9CFA-1875-715386725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185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CB3024F0-847A-D889-0BCB-51F5FBF5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076D66EB-6718-3322-4AEB-BB7F67056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2731DCA7-A899-8FA2-660C-0309E6245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176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D9C6567A-B4EE-F510-C653-907EC16F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74FD2A93-4323-4542-5909-C633775E7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667D2799-2DEA-C9A1-0297-4EA60614C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684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BB5036FB-5A40-94D5-2DE0-F83A0E1A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48ADCAD6-4C94-5CD5-4322-2F7009F4F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686C6BFE-9987-3001-11F5-6ACA96FF3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5889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DA11E376-7EC1-2AF6-848A-A96F714F2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2EB42B09-C2C1-4EDF-1431-AD72A49E4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EDF6FBE3-4FD3-BCD1-CE7F-502163ADD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226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5D9374CD-AC59-E587-854D-98BB09AE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F4A23410-AC6C-E499-F64A-9E36A8481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6B823823-82E2-805C-663E-04C973C13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483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57BFCF34-ECD9-FA01-B430-F0EFDD31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F9ABD318-C28D-9850-355F-746F43780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30AEFB04-4D77-BAEA-22BF-1AF4A25D28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741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D83E-5E10-7558-09EF-6558A5B57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D16B9-CCDC-B911-CEB9-93D5C7760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6B480-D16D-E7F7-81FF-B79EB9AC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B621-9F0C-9554-4A31-F4B98A61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52BB4-A89F-8111-0C0B-ECBA7A9F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81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CEA55-1050-9AD4-B7B1-448957BF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21DF0-746C-9381-CEF5-E885D560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3817-4ED7-37E9-F604-E220A098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CFEF-67A3-08C4-4D62-A9A62115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75906-6ABD-D659-C33E-46E4CBBB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037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4472-CD87-8181-DEA4-7DED9730E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056F1-97DE-71DB-928C-B2D5670B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50F1-C8CC-56E4-48EF-0B85AF00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69541-4CC5-123C-912B-196EC26A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A56E2-7FDE-FAF4-C22D-AAD6234B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4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E9C1-566D-501E-6D0F-FE90D329D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7D94C-1FCA-911A-99EB-3F6FF8014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2957E-27CE-5257-1921-DF8941485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2459A-5282-44E6-F2A3-B58D906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C5476-EFEA-EE42-6A9B-B4629586F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E097F-AD1F-D80A-6951-17F6BB7B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24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BB4C-B5EF-7A24-1B45-D9767C654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5B02B-A8DE-7B88-CF7C-1FB03B305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80DF2-0416-E2D8-F0E0-571778F8C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21230-C2BD-623E-244A-1D2FF36C7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ABD9F-AEDA-05B0-674E-36846842B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D6D7E-33D1-267A-A97F-5413A965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ED11D4-E4BA-CC8D-0706-811116A0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29782-7C07-114C-12C1-117ABDA9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62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776E-FA07-5730-E846-1FD327705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4C2AC-5B46-7872-A9BD-5B975055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70091-AD59-73D2-E714-544042DA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9CD4B-CAD8-5ABE-F1F1-6EFC4E3E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66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BB039-3411-BC60-6F4D-D81BFFDB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0CB958-8CA2-544F-0E6E-955A9D62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8CDBD-A8C9-389E-2A1D-EF2363E6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079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6943-F611-8985-1236-146AB5D2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F9D2-FB49-3730-FF4A-D61670FE3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D190D-EC82-D687-FBC1-3838497E7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7E1A4-5D91-7AFC-ABDE-1AFCF497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3AEDB-2FBD-9F74-76EC-BEF7BC274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CF477-B6B2-7F3C-4985-62E28E47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99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7526-9C78-E6D6-E531-3659C275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F6D25-19D1-77FB-2699-2C842EFEF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3C180-289B-5041-BE94-88C6CDF55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B64FB-5C15-EEAA-4877-A5906AC5F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1B999-697E-9103-EFDF-39495442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3EED8-F630-1FE5-04A9-DFBAF837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093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7F28-C89E-4D96-C627-8E5AF35E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FE598-E7EE-4B86-55EE-3999C8776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4A347-8A99-1CD2-8FCD-149EDAE1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1B37A-8B3F-A50E-3671-544CE2A3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08CE4-CDD1-11D8-B23D-8D24C945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345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D2B51-DE92-60BE-3B07-07DD80E61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01739-63B6-BCF1-02AC-5B434E6EF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3405-5E3F-6541-A56E-039FB402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8D742-4650-A7B9-0E8E-611DF471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EA0A-4BD6-E3ED-50F2-3E01A913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12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11">
            <a:extLst>
              <a:ext uri="{FF2B5EF4-FFF2-40B4-BE49-F238E27FC236}">
                <a16:creationId xmlns:a16="http://schemas.microsoft.com/office/drawing/2014/main" id="{2E4C57A2-A4AF-7A82-EFE7-58FD12050B64}"/>
              </a:ext>
            </a:extLst>
          </p:cNvPr>
          <p:cNvSpPr/>
          <p:nvPr userDrawn="1"/>
        </p:nvSpPr>
        <p:spPr>
          <a:xfrm rot="10800000">
            <a:off x="889832" y="1084817"/>
            <a:ext cx="10412335" cy="4688366"/>
          </a:xfrm>
          <a:prstGeom prst="snip2DiagRect">
            <a:avLst>
              <a:gd name="adj1" fmla="val 0"/>
              <a:gd name="adj2" fmla="val 36246"/>
            </a:avLst>
          </a:prstGeom>
          <a:gradFill flip="none" rotWithShape="0">
            <a:gsLst>
              <a:gs pos="75000">
                <a:srgbClr val="921D87"/>
              </a:gs>
              <a:gs pos="25000">
                <a:srgbClr val="0E166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212C9-5379-6E9E-71C7-6DE3FE670D56}"/>
              </a:ext>
            </a:extLst>
          </p:cNvPr>
          <p:cNvSpPr txBox="1"/>
          <p:nvPr userDrawn="1"/>
        </p:nvSpPr>
        <p:spPr>
          <a:xfrm>
            <a:off x="2502757" y="2097982"/>
            <a:ext cx="7769004" cy="221599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7200" cap="all" spc="1000">
                <a:solidFill>
                  <a:schemeClr val="bg1"/>
                </a:solidFill>
                <a:latin typeface="Josefin Sans SemiBold" pitchFamily="2" charset="77"/>
              </a:rPr>
              <a:t>MARKMAN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1E38FB-5685-AA86-B905-70BB19CA1FCB}"/>
              </a:ext>
            </a:extLst>
          </p:cNvPr>
          <p:cNvCxnSpPr>
            <a:cxnSpLocks/>
          </p:cNvCxnSpPr>
          <p:nvPr userDrawn="1"/>
        </p:nvCxnSpPr>
        <p:spPr>
          <a:xfrm>
            <a:off x="2502757" y="4327077"/>
            <a:ext cx="707747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74B9EF-02B6-706C-2CC7-C247E5A13D43}"/>
              </a:ext>
            </a:extLst>
          </p:cNvPr>
          <p:cNvCxnSpPr>
            <a:cxnSpLocks/>
          </p:cNvCxnSpPr>
          <p:nvPr userDrawn="1"/>
        </p:nvCxnSpPr>
        <p:spPr>
          <a:xfrm flipV="1">
            <a:off x="243840" y="6388399"/>
            <a:ext cx="11704320" cy="1"/>
          </a:xfrm>
          <a:prstGeom prst="straightConnector1">
            <a:avLst/>
          </a:prstGeom>
          <a:ln>
            <a:solidFill>
              <a:srgbClr val="0E166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ADE5C0-1AB1-35C8-4D6D-9EFD60F046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5555" y="3876571"/>
            <a:ext cx="1896612" cy="1896612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D85B07C-463E-7105-77AB-4D5DB0504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3840" y="6421224"/>
            <a:ext cx="6812742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Confidential – For internal use only. Do not distribute without prior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903452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4CDF60-A573-72A8-1EC5-1ACCAEE01D4A}"/>
              </a:ext>
            </a:extLst>
          </p:cNvPr>
          <p:cNvSpPr/>
          <p:nvPr userDrawn="1"/>
        </p:nvSpPr>
        <p:spPr>
          <a:xfrm>
            <a:off x="0" y="0"/>
            <a:ext cx="12192000" cy="1097280"/>
          </a:xfrm>
          <a:prstGeom prst="rect">
            <a:avLst/>
          </a:prstGeom>
          <a:gradFill>
            <a:gsLst>
              <a:gs pos="25000">
                <a:srgbClr val="0E166B"/>
              </a:gs>
              <a:gs pos="75000">
                <a:srgbClr val="921D8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EBBD4-7EF6-4B37-8C4A-DB6C88A5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913" y="6408108"/>
            <a:ext cx="11844067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Confidential – For internal use only. Do not distribute without prior authorization.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CA7265-A188-21B8-29A4-9F5C7710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4730"/>
            <a:ext cx="11012055" cy="687820"/>
          </a:xfrm>
          <a:prstGeom prst="rect">
            <a:avLst/>
          </a:prstGeom>
        </p:spPr>
        <p:txBody>
          <a:bodyPr/>
          <a:lstStyle>
            <a:lvl1pPr marL="274320">
              <a:defRPr sz="3200" b="1">
                <a:solidFill>
                  <a:schemeClr val="bg1"/>
                </a:solidFill>
                <a:latin typeface="Squada On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73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CFA09D-ABA1-959B-69C8-83932A60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66EDA-CE52-D8E3-9ECC-ABD7525FD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D46D-DBAB-B28A-3B6F-CDB383412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B609B-C588-43D6-8163-81DAFD72A1C2}" type="datetimeFigureOut">
              <a:rPr lang="es-ES" smtClean="0"/>
              <a:t>30/06/2025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0EEFF-EC50-9652-99BC-590C8BDB3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8065F-3906-0191-ED65-4D06A9A82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53F03-FB15-4066-8C82-E39EEB54BC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35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nnect@markmanassociates.com&#8203;" TargetMode="External"/><Relationship Id="rId2" Type="http://schemas.openxmlformats.org/officeDocument/2006/relationships/hyperlink" Target="https://markman-group.com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42798AD7-E3E5-45EF-9E36-FFFDA1739498}"/>
              </a:ext>
            </a:extLst>
          </p:cNvPr>
          <p:cNvSpPr txBox="1"/>
          <p:nvPr/>
        </p:nvSpPr>
        <p:spPr>
          <a:xfrm>
            <a:off x="7242228" y="6452754"/>
            <a:ext cx="1416190" cy="223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E166B"/>
                </a:solidFill>
                <a:latin typeface="+mj-lt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markman-group.com</a:t>
            </a:r>
            <a:endParaRPr lang="en-US" sz="1000">
              <a:solidFill>
                <a:srgbClr val="0E166B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0AE965-80E7-4545-8B84-E9645D71F454}"/>
              </a:ext>
            </a:extLst>
          </p:cNvPr>
          <p:cNvSpPr txBox="1"/>
          <p:nvPr/>
        </p:nvSpPr>
        <p:spPr>
          <a:xfrm>
            <a:off x="9580228" y="6447562"/>
            <a:ext cx="2177721" cy="223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E166B"/>
                </a:solidFill>
                <a:latin typeface="+mj-lt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connect@markmanassociates.com</a:t>
            </a:r>
            <a:endParaRPr lang="en-US" sz="1000">
              <a:solidFill>
                <a:srgbClr val="0E166B"/>
              </a:solidFill>
              <a:latin typeface="+mj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A099B-6611-CDD7-CE5C-05F25F0DDDF9}"/>
              </a:ext>
            </a:extLst>
          </p:cNvPr>
          <p:cNvSpPr txBox="1"/>
          <p:nvPr/>
        </p:nvSpPr>
        <p:spPr>
          <a:xfrm>
            <a:off x="2540000" y="4493846"/>
            <a:ext cx="659097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Roles &amp; Responsibilities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06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/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13" name="Rectángulo 15">
            <a:extLst>
              <a:ext uri="{FF2B5EF4-FFF2-40B4-BE49-F238E27FC236}">
                <a16:creationId xmlns:a16="http://schemas.microsoft.com/office/drawing/2014/main" id="{91B4261B-BC91-409E-0092-84168D86F94B}"/>
              </a:ext>
            </a:extLst>
          </p:cNvPr>
          <p:cNvSpPr/>
          <p:nvPr/>
        </p:nvSpPr>
        <p:spPr>
          <a:xfrm>
            <a:off x="810428" y="3046052"/>
            <a:ext cx="2021671" cy="524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Tailored Application Development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266A5D7-1387-22D4-34DE-A256502C1E9B}"/>
              </a:ext>
            </a:extLst>
          </p:cNvPr>
          <p:cNvSpPr/>
          <p:nvPr/>
        </p:nvSpPr>
        <p:spPr>
          <a:xfrm>
            <a:off x="2918628" y="3046052"/>
            <a:ext cx="2021671" cy="524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Process Discovery &amp; Strategy</a:t>
            </a:r>
          </a:p>
        </p:txBody>
      </p:sp>
      <p:sp>
        <p:nvSpPr>
          <p:cNvPr id="17" name="Rectángulo 15">
            <a:extLst>
              <a:ext uri="{FF2B5EF4-FFF2-40B4-BE49-F238E27FC236}">
                <a16:creationId xmlns:a16="http://schemas.microsoft.com/office/drawing/2014/main" id="{7C395490-9F25-EA50-69B7-FA9E305FE6F1}"/>
              </a:ext>
            </a:extLst>
          </p:cNvPr>
          <p:cNvSpPr/>
          <p:nvPr/>
        </p:nvSpPr>
        <p:spPr>
          <a:xfrm>
            <a:off x="5026828" y="3046052"/>
            <a:ext cx="2021671" cy="524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Process Automation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61B9035F-3085-CE30-E5A0-E303A1AA8608}"/>
              </a:ext>
            </a:extLst>
          </p:cNvPr>
          <p:cNvSpPr/>
          <p:nvPr/>
        </p:nvSpPr>
        <p:spPr>
          <a:xfrm>
            <a:off x="7135028" y="3046052"/>
            <a:ext cx="2021671" cy="524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Data Engineering &amp; Infrastructure</a:t>
            </a:r>
          </a:p>
        </p:txBody>
      </p:sp>
      <p:sp>
        <p:nvSpPr>
          <p:cNvPr id="19" name="Rectángulo 15">
            <a:extLst>
              <a:ext uri="{FF2B5EF4-FFF2-40B4-BE49-F238E27FC236}">
                <a16:creationId xmlns:a16="http://schemas.microsoft.com/office/drawing/2014/main" id="{AA2144BE-43A1-2D90-9E1E-84ACE86DFB09}"/>
              </a:ext>
            </a:extLst>
          </p:cNvPr>
          <p:cNvSpPr/>
          <p:nvPr/>
        </p:nvSpPr>
        <p:spPr>
          <a:xfrm>
            <a:off x="9243228" y="3046052"/>
            <a:ext cx="2021671" cy="524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Reporting &amp; Analytics</a:t>
            </a:r>
          </a:p>
        </p:txBody>
      </p:sp>
      <p:sp>
        <p:nvSpPr>
          <p:cNvPr id="21" name="Rectángulo 15">
            <a:extLst>
              <a:ext uri="{FF2B5EF4-FFF2-40B4-BE49-F238E27FC236}">
                <a16:creationId xmlns:a16="http://schemas.microsoft.com/office/drawing/2014/main" id="{9F1EE6A2-63EC-41F4-88BF-EE732F00F6F0}"/>
              </a:ext>
            </a:extLst>
          </p:cNvPr>
          <p:cNvSpPr/>
          <p:nvPr/>
        </p:nvSpPr>
        <p:spPr>
          <a:xfrm>
            <a:off x="4679951" y="1538330"/>
            <a:ext cx="2349498" cy="818533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Mike Markman </a:t>
            </a:r>
          </a:p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CEO</a:t>
            </a:r>
          </a:p>
        </p:txBody>
      </p:sp>
      <p:sp>
        <p:nvSpPr>
          <p:cNvPr id="25" name="Rectángulo 15">
            <a:extLst>
              <a:ext uri="{FF2B5EF4-FFF2-40B4-BE49-F238E27FC236}">
                <a16:creationId xmlns:a16="http://schemas.microsoft.com/office/drawing/2014/main" id="{10388E21-EE3E-9CCD-52B2-5EF1652EDDFF}"/>
              </a:ext>
            </a:extLst>
          </p:cNvPr>
          <p:cNvSpPr/>
          <p:nvPr/>
        </p:nvSpPr>
        <p:spPr>
          <a:xfrm>
            <a:off x="753276" y="2519954"/>
            <a:ext cx="10598150" cy="438988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SOLUTION LEADS</a:t>
            </a:r>
          </a:p>
        </p:txBody>
      </p:sp>
      <p:sp>
        <p:nvSpPr>
          <p:cNvPr id="26" name="Rectángulo 15">
            <a:extLst>
              <a:ext uri="{FF2B5EF4-FFF2-40B4-BE49-F238E27FC236}">
                <a16:creationId xmlns:a16="http://schemas.microsoft.com/office/drawing/2014/main" id="{19C2574F-4708-FD9A-0705-3C0AD23A0595}"/>
              </a:ext>
            </a:extLst>
          </p:cNvPr>
          <p:cNvSpPr/>
          <p:nvPr/>
        </p:nvSpPr>
        <p:spPr>
          <a:xfrm>
            <a:off x="810427" y="3618883"/>
            <a:ext cx="4129872" cy="362567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accent5"/>
                </a:solidFill>
                <a:ea typeface="Calibri" panose="020F0502020204030204" pitchFamily="34" charset="0"/>
              </a:rPr>
              <a:t>Niki</a:t>
            </a:r>
          </a:p>
        </p:txBody>
      </p:sp>
      <p:sp>
        <p:nvSpPr>
          <p:cNvPr id="27" name="Rectángulo 15">
            <a:extLst>
              <a:ext uri="{FF2B5EF4-FFF2-40B4-BE49-F238E27FC236}">
                <a16:creationId xmlns:a16="http://schemas.microsoft.com/office/drawing/2014/main" id="{4EE68BC0-2D49-E161-2460-442244FA8294}"/>
              </a:ext>
            </a:extLst>
          </p:cNvPr>
          <p:cNvSpPr/>
          <p:nvPr/>
        </p:nvSpPr>
        <p:spPr>
          <a:xfrm>
            <a:off x="5026828" y="3618883"/>
            <a:ext cx="4129872" cy="362567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accent5"/>
                </a:solidFill>
                <a:ea typeface="Calibri" panose="020F0502020204030204" pitchFamily="34" charset="0"/>
              </a:rPr>
              <a:t>Jan &amp; Niko</a:t>
            </a:r>
          </a:p>
        </p:txBody>
      </p:sp>
      <p:sp>
        <p:nvSpPr>
          <p:cNvPr id="28" name="Rectángulo 15">
            <a:extLst>
              <a:ext uri="{FF2B5EF4-FFF2-40B4-BE49-F238E27FC236}">
                <a16:creationId xmlns:a16="http://schemas.microsoft.com/office/drawing/2014/main" id="{015B82CD-6EFD-4F89-67F9-7DE77D3A6C2A}"/>
              </a:ext>
            </a:extLst>
          </p:cNvPr>
          <p:cNvSpPr/>
          <p:nvPr/>
        </p:nvSpPr>
        <p:spPr>
          <a:xfrm>
            <a:off x="9243227" y="3618883"/>
            <a:ext cx="2021671" cy="362567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accent5"/>
                </a:solidFill>
                <a:ea typeface="Calibri" panose="020F0502020204030204" pitchFamily="34" charset="0"/>
              </a:rPr>
              <a:t>Petrana</a:t>
            </a:r>
          </a:p>
        </p:txBody>
      </p:sp>
      <p:sp>
        <p:nvSpPr>
          <p:cNvPr id="29" name="Rectángulo 15">
            <a:extLst>
              <a:ext uri="{FF2B5EF4-FFF2-40B4-BE49-F238E27FC236}">
                <a16:creationId xmlns:a16="http://schemas.microsoft.com/office/drawing/2014/main" id="{65EE0102-1B29-CE9C-E0BF-E04EBD2E2A6D}"/>
              </a:ext>
            </a:extLst>
          </p:cNvPr>
          <p:cNvSpPr/>
          <p:nvPr/>
        </p:nvSpPr>
        <p:spPr>
          <a:xfrm>
            <a:off x="797341" y="4191714"/>
            <a:ext cx="10454472" cy="524596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IT Infrastructure - Richard</a:t>
            </a:r>
          </a:p>
        </p:txBody>
      </p:sp>
      <p:sp>
        <p:nvSpPr>
          <p:cNvPr id="30" name="Rectángulo 15">
            <a:extLst>
              <a:ext uri="{FF2B5EF4-FFF2-40B4-BE49-F238E27FC236}">
                <a16:creationId xmlns:a16="http://schemas.microsoft.com/office/drawing/2014/main" id="{79AC61BE-E698-E0D6-83D9-2BE1104A9660}"/>
              </a:ext>
            </a:extLst>
          </p:cNvPr>
          <p:cNvSpPr/>
          <p:nvPr/>
        </p:nvSpPr>
        <p:spPr>
          <a:xfrm>
            <a:off x="797341" y="4788614"/>
            <a:ext cx="10454472" cy="524596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Program Management - Carmen</a:t>
            </a:r>
          </a:p>
        </p:txBody>
      </p:sp>
      <p:sp>
        <p:nvSpPr>
          <p:cNvPr id="31" name="Rectángulo 15">
            <a:extLst>
              <a:ext uri="{FF2B5EF4-FFF2-40B4-BE49-F238E27FC236}">
                <a16:creationId xmlns:a16="http://schemas.microsoft.com/office/drawing/2014/main" id="{44DE5B83-AE3E-1DC6-C00E-A36774C5910D}"/>
              </a:ext>
            </a:extLst>
          </p:cNvPr>
          <p:cNvSpPr/>
          <p:nvPr/>
        </p:nvSpPr>
        <p:spPr>
          <a:xfrm>
            <a:off x="797341" y="5388903"/>
            <a:ext cx="10454472" cy="524596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Sales - TBC</a:t>
            </a:r>
          </a:p>
        </p:txBody>
      </p:sp>
      <p:sp>
        <p:nvSpPr>
          <p:cNvPr id="32" name="Rectángulo 15">
            <a:extLst>
              <a:ext uri="{FF2B5EF4-FFF2-40B4-BE49-F238E27FC236}">
                <a16:creationId xmlns:a16="http://schemas.microsoft.com/office/drawing/2014/main" id="{744C4786-BBF1-CB4F-A88B-7FF7795DC641}"/>
              </a:ext>
            </a:extLst>
          </p:cNvPr>
          <p:cNvSpPr/>
          <p:nvPr/>
        </p:nvSpPr>
        <p:spPr>
          <a:xfrm>
            <a:off x="725502" y="2997817"/>
            <a:ext cx="10598151" cy="107259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de-DE" sz="1400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33" name="Rectángulo 15">
            <a:extLst>
              <a:ext uri="{FF2B5EF4-FFF2-40B4-BE49-F238E27FC236}">
                <a16:creationId xmlns:a16="http://schemas.microsoft.com/office/drawing/2014/main" id="{054B44D9-3E0C-2529-160F-0FEBA225FCD9}"/>
              </a:ext>
            </a:extLst>
          </p:cNvPr>
          <p:cNvSpPr/>
          <p:nvPr/>
        </p:nvSpPr>
        <p:spPr>
          <a:xfrm>
            <a:off x="797341" y="5989192"/>
            <a:ext cx="10454472" cy="524596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Maintenance &amp; Support – Niko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>
          <a:extLst>
            <a:ext uri="{FF2B5EF4-FFF2-40B4-BE49-F238E27FC236}">
              <a16:creationId xmlns:a16="http://schemas.microsoft.com/office/drawing/2014/main" id="{F3F99236-777F-E292-8AC5-1609AC64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3BBEC2FF-3968-46AC-0633-7FEAC2937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 &amp; Responsibilities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2" name="Rectángulo 15">
            <a:extLst>
              <a:ext uri="{FF2B5EF4-FFF2-40B4-BE49-F238E27FC236}">
                <a16:creationId xmlns:a16="http://schemas.microsoft.com/office/drawing/2014/main" id="{C9F0FF79-0D67-9808-12B3-B8C13F6663B3}"/>
              </a:ext>
            </a:extLst>
          </p:cNvPr>
          <p:cNvSpPr/>
          <p:nvPr/>
        </p:nvSpPr>
        <p:spPr>
          <a:xfrm>
            <a:off x="260350" y="1769508"/>
            <a:ext cx="1872000" cy="687821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600" b="1" dirty="0">
                <a:solidFill>
                  <a:schemeClr val="bg1"/>
                </a:solidFill>
                <a:ea typeface="Calibri" panose="020F0502020204030204" pitchFamily="34" charset="0"/>
              </a:rPr>
              <a:t>CEO</a:t>
            </a:r>
          </a:p>
        </p:txBody>
      </p:sp>
      <p:sp>
        <p:nvSpPr>
          <p:cNvPr id="3" name="Rectángulo 15">
            <a:extLst>
              <a:ext uri="{FF2B5EF4-FFF2-40B4-BE49-F238E27FC236}">
                <a16:creationId xmlns:a16="http://schemas.microsoft.com/office/drawing/2014/main" id="{B0FD0BD9-17AB-19E8-9319-7E2F6CE93D2B}"/>
              </a:ext>
            </a:extLst>
          </p:cNvPr>
          <p:cNvSpPr/>
          <p:nvPr/>
        </p:nvSpPr>
        <p:spPr>
          <a:xfrm>
            <a:off x="2235201" y="1769507"/>
            <a:ext cx="1872000" cy="687821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600" b="1" dirty="0">
                <a:solidFill>
                  <a:schemeClr val="bg1"/>
                </a:solidFill>
                <a:ea typeface="Calibri" panose="020F0502020204030204" pitchFamily="34" charset="0"/>
              </a:rPr>
              <a:t>Solution Lead</a:t>
            </a:r>
          </a:p>
        </p:txBody>
      </p:sp>
      <p:sp>
        <p:nvSpPr>
          <p:cNvPr id="4" name="Rectángulo 15">
            <a:extLst>
              <a:ext uri="{FF2B5EF4-FFF2-40B4-BE49-F238E27FC236}">
                <a16:creationId xmlns:a16="http://schemas.microsoft.com/office/drawing/2014/main" id="{58576847-7B2C-787D-4ADA-D5293F6AD40F}"/>
              </a:ext>
            </a:extLst>
          </p:cNvPr>
          <p:cNvSpPr/>
          <p:nvPr/>
        </p:nvSpPr>
        <p:spPr>
          <a:xfrm>
            <a:off x="4210052" y="1769507"/>
            <a:ext cx="1872000" cy="687821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600" b="1" dirty="0">
                <a:solidFill>
                  <a:schemeClr val="bg1"/>
                </a:solidFill>
                <a:ea typeface="Calibri" panose="020F0502020204030204" pitchFamily="34" charset="0"/>
              </a:rPr>
              <a:t>Program Management</a:t>
            </a:r>
          </a:p>
        </p:txBody>
      </p:sp>
      <p:sp>
        <p:nvSpPr>
          <p:cNvPr id="5" name="Rectángulo 15">
            <a:extLst>
              <a:ext uri="{FF2B5EF4-FFF2-40B4-BE49-F238E27FC236}">
                <a16:creationId xmlns:a16="http://schemas.microsoft.com/office/drawing/2014/main" id="{BC8C32D9-8AEE-A72C-E021-04BE145361E3}"/>
              </a:ext>
            </a:extLst>
          </p:cNvPr>
          <p:cNvSpPr/>
          <p:nvPr/>
        </p:nvSpPr>
        <p:spPr>
          <a:xfrm>
            <a:off x="6184903" y="1769507"/>
            <a:ext cx="1872000" cy="687821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600" b="1" dirty="0">
                <a:solidFill>
                  <a:schemeClr val="bg1"/>
                </a:solidFill>
                <a:ea typeface="Calibri" panose="020F0502020204030204" pitchFamily="34" charset="0"/>
              </a:rPr>
              <a:t>Sales</a:t>
            </a:r>
          </a:p>
        </p:txBody>
      </p:sp>
      <p:sp>
        <p:nvSpPr>
          <p:cNvPr id="6" name="Rectángulo 15">
            <a:extLst>
              <a:ext uri="{FF2B5EF4-FFF2-40B4-BE49-F238E27FC236}">
                <a16:creationId xmlns:a16="http://schemas.microsoft.com/office/drawing/2014/main" id="{1E294763-FC07-76F3-E62D-2D9F7C8EDDC7}"/>
              </a:ext>
            </a:extLst>
          </p:cNvPr>
          <p:cNvSpPr/>
          <p:nvPr/>
        </p:nvSpPr>
        <p:spPr>
          <a:xfrm>
            <a:off x="8159754" y="1769507"/>
            <a:ext cx="1872000" cy="687821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600" b="1" dirty="0">
                <a:solidFill>
                  <a:schemeClr val="bg1"/>
                </a:solidFill>
                <a:ea typeface="Calibri" panose="020F0502020204030204" pitchFamily="34" charset="0"/>
              </a:rPr>
              <a:t>Maintenance &amp; Support</a:t>
            </a:r>
          </a:p>
        </p:txBody>
      </p:sp>
      <p:sp>
        <p:nvSpPr>
          <p:cNvPr id="7" name="Rectángulo 15">
            <a:extLst>
              <a:ext uri="{FF2B5EF4-FFF2-40B4-BE49-F238E27FC236}">
                <a16:creationId xmlns:a16="http://schemas.microsoft.com/office/drawing/2014/main" id="{44B17677-BE80-C744-7D5C-D431A777283C}"/>
              </a:ext>
            </a:extLst>
          </p:cNvPr>
          <p:cNvSpPr/>
          <p:nvPr/>
        </p:nvSpPr>
        <p:spPr>
          <a:xfrm>
            <a:off x="10134605" y="1769507"/>
            <a:ext cx="1872000" cy="687821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600" b="1" dirty="0">
                <a:solidFill>
                  <a:schemeClr val="bg1"/>
                </a:solidFill>
                <a:ea typeface="Calibri" panose="020F0502020204030204" pitchFamily="34" charset="0"/>
              </a:rPr>
              <a:t>Infrastructure Lead</a:t>
            </a:r>
          </a:p>
        </p:txBody>
      </p:sp>
      <p:sp>
        <p:nvSpPr>
          <p:cNvPr id="8" name="Rectángulo 15">
            <a:extLst>
              <a:ext uri="{FF2B5EF4-FFF2-40B4-BE49-F238E27FC236}">
                <a16:creationId xmlns:a16="http://schemas.microsoft.com/office/drawing/2014/main" id="{641CFB4A-AB46-B606-281C-2AAC1CE65422}"/>
              </a:ext>
            </a:extLst>
          </p:cNvPr>
          <p:cNvSpPr/>
          <p:nvPr/>
        </p:nvSpPr>
        <p:spPr>
          <a:xfrm>
            <a:off x="260350" y="2554330"/>
            <a:ext cx="1872000" cy="33765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400">
                <a:solidFill>
                  <a:schemeClr val="tx1"/>
                </a:solidFill>
              </a:rPr>
              <a:t>The CEO is the highest-ranking executive, responsible for the overall vision, strategic direction, and performance of Markman Group.</a:t>
            </a:r>
            <a:endParaRPr lang="de-DE" sz="140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F64470E3-5BE9-5717-336B-F5D47436D5B5}"/>
              </a:ext>
            </a:extLst>
          </p:cNvPr>
          <p:cNvSpPr/>
          <p:nvPr/>
        </p:nvSpPr>
        <p:spPr>
          <a:xfrm>
            <a:off x="2235201" y="2554330"/>
            <a:ext cx="1872000" cy="33765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400" dirty="0">
                <a:solidFill>
                  <a:schemeClr val="tx1"/>
                </a:solidFill>
              </a:rPr>
              <a:t>The Solution Lead is a critical role bridging client needs with technical execution. They are responsible for the end-to-end lifecycle of solutions from conception to project management.</a:t>
            </a:r>
            <a:endParaRPr lang="de-DE" sz="140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  <p:sp>
        <p:nvSpPr>
          <p:cNvPr id="10" name="Rectángulo 15">
            <a:extLst>
              <a:ext uri="{FF2B5EF4-FFF2-40B4-BE49-F238E27FC236}">
                <a16:creationId xmlns:a16="http://schemas.microsoft.com/office/drawing/2014/main" id="{947C40BA-8298-FA10-8049-493D67D4595C}"/>
              </a:ext>
            </a:extLst>
          </p:cNvPr>
          <p:cNvSpPr/>
          <p:nvPr/>
        </p:nvSpPr>
        <p:spPr>
          <a:xfrm>
            <a:off x="4210052" y="2554330"/>
            <a:ext cx="1872000" cy="33765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400">
                <a:solidFill>
                  <a:schemeClr val="tx1"/>
                </a:solidFill>
              </a:rPr>
              <a:t>Program Management ensures the strategic oversight and coordinated execution of Markman Group's entire project portfolio, maintaining consistency and driving overall success.</a:t>
            </a:r>
            <a:endParaRPr lang="de-DE" sz="140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4EA18348-D178-725A-20C9-194A82AA2761}"/>
              </a:ext>
            </a:extLst>
          </p:cNvPr>
          <p:cNvSpPr/>
          <p:nvPr/>
        </p:nvSpPr>
        <p:spPr>
          <a:xfrm>
            <a:off x="6184903" y="2554330"/>
            <a:ext cx="1872000" cy="33765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400">
                <a:solidFill>
                  <a:schemeClr val="tx1"/>
                </a:solidFill>
              </a:rPr>
              <a:t>The Sales team is at the forefront of Markman Group's growth, responsible for identifying and converting new business opportunities.</a:t>
            </a:r>
            <a:endParaRPr lang="de-DE" sz="140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  <p:sp>
        <p:nvSpPr>
          <p:cNvPr id="12" name="Rectángulo 15">
            <a:extLst>
              <a:ext uri="{FF2B5EF4-FFF2-40B4-BE49-F238E27FC236}">
                <a16:creationId xmlns:a16="http://schemas.microsoft.com/office/drawing/2014/main" id="{97CF0597-9412-6680-7F54-617BAB4F1D57}"/>
              </a:ext>
            </a:extLst>
          </p:cNvPr>
          <p:cNvSpPr/>
          <p:nvPr/>
        </p:nvSpPr>
        <p:spPr>
          <a:xfrm>
            <a:off x="8159754" y="2554330"/>
            <a:ext cx="1872000" cy="33765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400">
                <a:solidFill>
                  <a:schemeClr val="tx1"/>
                </a:solidFill>
              </a:rPr>
              <a:t>The Maintenance &amp; Support team ensures the ongoing stability, functionality, and client satisfaction for delivered products and services.</a:t>
            </a:r>
            <a:endParaRPr lang="de-DE" sz="140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  <p:sp>
        <p:nvSpPr>
          <p:cNvPr id="14" name="Rectángulo 15">
            <a:extLst>
              <a:ext uri="{FF2B5EF4-FFF2-40B4-BE49-F238E27FC236}">
                <a16:creationId xmlns:a16="http://schemas.microsoft.com/office/drawing/2014/main" id="{F703467E-5436-43F0-BEC7-FD493396B8C7}"/>
              </a:ext>
            </a:extLst>
          </p:cNvPr>
          <p:cNvSpPr/>
          <p:nvPr/>
        </p:nvSpPr>
        <p:spPr>
          <a:xfrm>
            <a:off x="10134605" y="2554330"/>
            <a:ext cx="1872000" cy="33765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400" dirty="0">
                <a:solidFill>
                  <a:schemeClr val="tx1"/>
                </a:solidFill>
              </a:rPr>
              <a:t>The Infrastructure Lead is responsible for the foundational technological backbone that supports all projects and operations within Markman Group.</a:t>
            </a:r>
            <a:endParaRPr lang="de-DE" sz="140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15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>
          <a:extLst>
            <a:ext uri="{FF2B5EF4-FFF2-40B4-BE49-F238E27FC236}">
              <a16:creationId xmlns:a16="http://schemas.microsoft.com/office/drawing/2014/main" id="{BB7AD627-A2D2-34AD-ED54-C0D3E9FB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20038801-4548-73DF-CEE0-5ECF00F97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 &amp; Responsibilities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13" name="Rectángulo 15">
            <a:extLst>
              <a:ext uri="{FF2B5EF4-FFF2-40B4-BE49-F238E27FC236}">
                <a16:creationId xmlns:a16="http://schemas.microsoft.com/office/drawing/2014/main" id="{8ABDE4B7-E667-8C99-B049-8337D55347D0}"/>
              </a:ext>
            </a:extLst>
          </p:cNvPr>
          <p:cNvSpPr/>
          <p:nvPr/>
        </p:nvSpPr>
        <p:spPr>
          <a:xfrm>
            <a:off x="260350" y="1224735"/>
            <a:ext cx="2889250" cy="431679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CEO</a:t>
            </a:r>
          </a:p>
        </p:txBody>
      </p:sp>
      <p:sp>
        <p:nvSpPr>
          <p:cNvPr id="15" name="Rectángulo 15">
            <a:extLst>
              <a:ext uri="{FF2B5EF4-FFF2-40B4-BE49-F238E27FC236}">
                <a16:creationId xmlns:a16="http://schemas.microsoft.com/office/drawing/2014/main" id="{2D1BB359-B407-BA5E-5DD4-F260EA84BB56}"/>
              </a:ext>
            </a:extLst>
          </p:cNvPr>
          <p:cNvSpPr/>
          <p:nvPr/>
        </p:nvSpPr>
        <p:spPr>
          <a:xfrm>
            <a:off x="260350" y="1740714"/>
            <a:ext cx="11480800" cy="458388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0"/>
              </a:spcAft>
            </a:pPr>
            <a:r>
              <a:rPr lang="en-AU" sz="1200" b="1" noProof="0" dirty="0">
                <a:solidFill>
                  <a:schemeClr val="tx1"/>
                </a:solidFill>
                <a:ea typeface="Calibri" panose="020F0502020204030204" pitchFamily="34" charset="0"/>
              </a:rPr>
              <a:t>Key Responsibilities:</a:t>
            </a:r>
          </a:p>
          <a:p>
            <a:pPr>
              <a:spcAft>
                <a:spcPts val="0"/>
              </a:spcAft>
            </a:pPr>
            <a:endParaRPr lang="en-AU" sz="1100" b="1" noProof="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Strategic Leadership:</a:t>
            </a:r>
            <a:endParaRPr lang="en-AU" sz="12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Drive the overall company strategy, vision, and 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Set long-term goals and objectives for the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Lead the executive team in strategic planning and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200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Financial Oversight &amp; Approval: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Approve significant project budgets, whether for internal initiatives or external client engagements, ensuring financial viability and alignment with company strategy.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Oversee the financial health of the company, including revenue, profitability, and resource allocation.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Define and ensure adherence to core finance processes and policies.</a:t>
            </a:r>
          </a:p>
          <a:p>
            <a:endParaRPr lang="en-AU" sz="1200" b="1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Pricing Strategy: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Define and approve the company's overall pricing strategies for all consulting services, ensuring competitiveness and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Monitor market trends and adjust pricing models as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2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</a:rPr>
              <a:t>Organizational Development: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Foster a strong company culture and ensure alignment across all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Make key executive hiring decisions and build a high-performing leadership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Represent Markman Group to stakeholders, investors, and the public.</a:t>
            </a:r>
          </a:p>
          <a:p>
            <a:pPr>
              <a:spcAft>
                <a:spcPts val="0"/>
              </a:spcAft>
            </a:pPr>
            <a:endParaRPr lang="en-AU" sz="1100" noProof="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444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>
          <a:extLst>
            <a:ext uri="{FF2B5EF4-FFF2-40B4-BE49-F238E27FC236}">
              <a16:creationId xmlns:a16="http://schemas.microsoft.com/office/drawing/2014/main" id="{47EBF463-E5D8-1D80-4934-D1E9EB5A2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18B5B109-08FE-B1DA-3201-60165A1BB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 &amp; Responsibilities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13" name="Rectángulo 15">
            <a:extLst>
              <a:ext uri="{FF2B5EF4-FFF2-40B4-BE49-F238E27FC236}">
                <a16:creationId xmlns:a16="http://schemas.microsoft.com/office/drawing/2014/main" id="{1DB38F65-F830-66C4-2892-9673C86E34CF}"/>
              </a:ext>
            </a:extLst>
          </p:cNvPr>
          <p:cNvSpPr/>
          <p:nvPr/>
        </p:nvSpPr>
        <p:spPr>
          <a:xfrm>
            <a:off x="260350" y="1224735"/>
            <a:ext cx="2889250" cy="431679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Solution Lead</a:t>
            </a:r>
          </a:p>
        </p:txBody>
      </p:sp>
      <p:sp>
        <p:nvSpPr>
          <p:cNvPr id="15" name="Rectángulo 15">
            <a:extLst>
              <a:ext uri="{FF2B5EF4-FFF2-40B4-BE49-F238E27FC236}">
                <a16:creationId xmlns:a16="http://schemas.microsoft.com/office/drawing/2014/main" id="{AAA79FF0-DED5-54C4-9905-A5B7CAC45EE3}"/>
              </a:ext>
            </a:extLst>
          </p:cNvPr>
          <p:cNvSpPr/>
          <p:nvPr/>
        </p:nvSpPr>
        <p:spPr>
          <a:xfrm>
            <a:off x="260350" y="1740714"/>
            <a:ext cx="11480800" cy="458388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0"/>
              </a:spcAft>
            </a:pPr>
            <a:r>
              <a:rPr lang="en-AU" sz="1200" b="1" noProof="0" dirty="0">
                <a:solidFill>
                  <a:schemeClr val="tx1"/>
                </a:solidFill>
                <a:ea typeface="Calibri" panose="020F0502020204030204" pitchFamily="34" charset="0"/>
              </a:rPr>
              <a:t>Key Responsibilities:</a:t>
            </a:r>
          </a:p>
          <a:p>
            <a:pPr>
              <a:spcAft>
                <a:spcPts val="0"/>
              </a:spcAft>
            </a:pPr>
            <a:endParaRPr lang="en-AU" sz="1100" b="1" noProof="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Solution Development &amp; Design:</a:t>
            </a:r>
            <a:endParaRPr lang="en-AU" sz="12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Engage with clients to understand their business challenges, requirements, and objectives.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Design and develop tailored, adequate, and innovative consulting solutions that address client needs and leverage Markman Group's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Translate complex client requirements into clear, actionable solution designs and technical specifications.</a:t>
            </a:r>
          </a:p>
          <a:p>
            <a:endParaRPr lang="en-AU" sz="1200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Sales Support &amp; Proposal Development: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Collaborate closely with the Sales team, providing expert input on solution feasibility, scope, and technical details.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Develop comprehensive solution proposals, including scope of work, deliverables, timelines, and resource estimates, to support sales efforts.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Participate in client presentations and discussions to articulate the value and technical aspects of proposed solutions.</a:t>
            </a:r>
          </a:p>
          <a:p>
            <a:endParaRPr lang="en-AU" sz="1200" b="1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Project Management &amp; Delivery: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Take ownership of project execution, ensuring projects for their solutions are delivered on time, within budget, and to the highest quality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Develop and manage detailed project plans, including resource allocation, task assignments, and risk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Monitor project progress, identify potential roadblocks, and implement corrective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noProof="0" dirty="0">
                <a:solidFill>
                  <a:schemeClr val="tx1"/>
                </a:solidFill>
              </a:rPr>
              <a:t>Serve as the primary point of contact for clients during project execution, managing expectations and ensuring client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2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</a:rPr>
              <a:t>Team &amp; Resource Management: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Identify staffing needs for their specific projects and participate in the hiring process for project-specific team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Provide technical guidance and mentorship to project team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Manage project resources effectively to ensure optimal utilization and profitability.</a:t>
            </a:r>
          </a:p>
          <a:p>
            <a:pPr>
              <a:spcAft>
                <a:spcPts val="0"/>
              </a:spcAft>
            </a:pPr>
            <a:endParaRPr lang="en-AU" sz="1100" noProof="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96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>
          <a:extLst>
            <a:ext uri="{FF2B5EF4-FFF2-40B4-BE49-F238E27FC236}">
              <a16:creationId xmlns:a16="http://schemas.microsoft.com/office/drawing/2014/main" id="{C8681D07-7048-66E3-296E-BCD40CE8F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80830DCF-1F64-3D56-98C1-685D8C375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 &amp; Responsibilities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13" name="Rectángulo 15">
            <a:extLst>
              <a:ext uri="{FF2B5EF4-FFF2-40B4-BE49-F238E27FC236}">
                <a16:creationId xmlns:a16="http://schemas.microsoft.com/office/drawing/2014/main" id="{625A5939-4D39-7B34-B7F9-7634A06C9374}"/>
              </a:ext>
            </a:extLst>
          </p:cNvPr>
          <p:cNvSpPr/>
          <p:nvPr/>
        </p:nvSpPr>
        <p:spPr>
          <a:xfrm>
            <a:off x="260350" y="1224735"/>
            <a:ext cx="2889250" cy="431679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Infrastructure Lead</a:t>
            </a:r>
          </a:p>
        </p:txBody>
      </p:sp>
      <p:sp>
        <p:nvSpPr>
          <p:cNvPr id="15" name="Rectángulo 15">
            <a:extLst>
              <a:ext uri="{FF2B5EF4-FFF2-40B4-BE49-F238E27FC236}">
                <a16:creationId xmlns:a16="http://schemas.microsoft.com/office/drawing/2014/main" id="{F85134B2-B794-C7D1-208F-DD1B4A538A6E}"/>
              </a:ext>
            </a:extLst>
          </p:cNvPr>
          <p:cNvSpPr/>
          <p:nvPr/>
        </p:nvSpPr>
        <p:spPr>
          <a:xfrm>
            <a:off x="260350" y="1740715"/>
            <a:ext cx="11480800" cy="294885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0"/>
              </a:spcAft>
            </a:pPr>
            <a:r>
              <a:rPr lang="en-AU" sz="1200" b="1" noProof="0" dirty="0">
                <a:solidFill>
                  <a:schemeClr val="tx1"/>
                </a:solidFill>
                <a:ea typeface="Calibri" panose="020F0502020204030204" pitchFamily="34" charset="0"/>
              </a:rPr>
              <a:t>Key Responsibilities:</a:t>
            </a:r>
          </a:p>
          <a:p>
            <a:pPr>
              <a:spcAft>
                <a:spcPts val="0"/>
              </a:spcAft>
            </a:pPr>
            <a:endParaRPr lang="en-AU" sz="1100" b="1" noProof="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Infrastructure Management</a:t>
            </a:r>
            <a:endParaRPr lang="en-AU" sz="12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Oversee the design, implementation, maintenance, and optimization of all IT infrastructure, including servers, networks, databases, cloud services, and security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Ensure the scalability, reliability, and security of all infrastructure components.</a:t>
            </a:r>
          </a:p>
          <a:p>
            <a:endParaRPr lang="en-AU" sz="1200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System Availability and Performance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Ensure that all necessary systems, tools, and platforms are consistently available and performing optimally for project teams and internal operations.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Implement robust monitoring, backup, and disaster recovery strategies.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Troubleshoot and resolve infrastructure-related issues promptly to minimize downtime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AU" sz="1200" b="1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Technical Support &amp;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Provide technical expertise and support to Solution Leads and project teams regarding infrastructure requirements and best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Stay updated with emerging technologies and recommend improvements to enhance infrastructure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200" b="1" dirty="0">
              <a:solidFill>
                <a:schemeClr val="tx1"/>
              </a:solidFill>
            </a:endParaRPr>
          </a:p>
          <a:p>
            <a:pPr>
              <a:spcAft>
                <a:spcPts val="0"/>
              </a:spcAft>
            </a:pPr>
            <a:endParaRPr lang="en-AU" sz="1100" noProof="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3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>
          <a:extLst>
            <a:ext uri="{FF2B5EF4-FFF2-40B4-BE49-F238E27FC236}">
              <a16:creationId xmlns:a16="http://schemas.microsoft.com/office/drawing/2014/main" id="{A42F784C-2FC8-9582-3639-120036A1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91CC74B2-75BA-945A-0BFA-AB891495B8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 &amp; Responsibilities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13" name="Rectángulo 15">
            <a:extLst>
              <a:ext uri="{FF2B5EF4-FFF2-40B4-BE49-F238E27FC236}">
                <a16:creationId xmlns:a16="http://schemas.microsoft.com/office/drawing/2014/main" id="{E0A92B3C-A5A5-2908-8ACA-B5C598476073}"/>
              </a:ext>
            </a:extLst>
          </p:cNvPr>
          <p:cNvSpPr/>
          <p:nvPr/>
        </p:nvSpPr>
        <p:spPr>
          <a:xfrm>
            <a:off x="260350" y="1224735"/>
            <a:ext cx="2889250" cy="431679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Program Management</a:t>
            </a:r>
          </a:p>
        </p:txBody>
      </p:sp>
      <p:sp>
        <p:nvSpPr>
          <p:cNvPr id="15" name="Rectángulo 15">
            <a:extLst>
              <a:ext uri="{FF2B5EF4-FFF2-40B4-BE49-F238E27FC236}">
                <a16:creationId xmlns:a16="http://schemas.microsoft.com/office/drawing/2014/main" id="{9901F9DA-6487-E2CA-E5CC-B1F767A23B04}"/>
              </a:ext>
            </a:extLst>
          </p:cNvPr>
          <p:cNvSpPr/>
          <p:nvPr/>
        </p:nvSpPr>
        <p:spPr>
          <a:xfrm>
            <a:off x="260350" y="1740715"/>
            <a:ext cx="11480800" cy="327578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0"/>
              </a:spcAft>
            </a:pPr>
            <a:r>
              <a:rPr lang="en-AU" sz="1200" b="1" noProof="0" dirty="0">
                <a:solidFill>
                  <a:schemeClr val="tx1"/>
                </a:solidFill>
                <a:ea typeface="Calibri" panose="020F0502020204030204" pitchFamily="34" charset="0"/>
              </a:rPr>
              <a:t>Key Responsibilities:</a:t>
            </a:r>
          </a:p>
          <a:p>
            <a:pPr>
              <a:spcAft>
                <a:spcPts val="0"/>
              </a:spcAft>
            </a:pPr>
            <a:endParaRPr lang="en-AU" sz="1100" b="1" noProof="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Portfolio Oversight &amp; Tracking</a:t>
            </a:r>
            <a:endParaRPr lang="en-AU" sz="12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Track the overall progress and health of the entire project portfolio, ensuring alignment with strategic objectives.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Develop and maintain a centralized view of all active projects, their statuses, and interdependencies.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Report on portfolio performance to CEO, highlighting risks, opportunities, and key metrics.</a:t>
            </a:r>
          </a:p>
          <a:p>
            <a:endParaRPr lang="en-AU" sz="1200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Process Definition &amp; Implementation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Establish, standardize, and optimize project management processes, methodologies, and best practices across the organization.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Ensure consistency in project planning, execution, monitoring, and reporting.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Develop and manage project governance frameworks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AU" sz="1200" b="1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Project Planning &amp; Performance Monitoring: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Collaborate with Solution Leads to ensure each project has a well-defined plan, including scope, objectives, deliverables, and success metrics.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Monitor and track project timelines, resource utilization, and profitability against established plans and budgets.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Provide guidance and support to Solution Leads in managing project risks and 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Facilitate cross-project communication and resource sharing to optimize overall portfolio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200" b="1" dirty="0">
              <a:solidFill>
                <a:schemeClr val="tx1"/>
              </a:solidFill>
            </a:endParaRPr>
          </a:p>
          <a:p>
            <a:pPr>
              <a:spcAft>
                <a:spcPts val="0"/>
              </a:spcAft>
            </a:pPr>
            <a:endParaRPr lang="en-AU" sz="1100" noProof="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17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>
          <a:extLst>
            <a:ext uri="{FF2B5EF4-FFF2-40B4-BE49-F238E27FC236}">
              <a16:creationId xmlns:a16="http://schemas.microsoft.com/office/drawing/2014/main" id="{14BFE9C8-D6FC-F5D9-E78E-EE0CCC6A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80E10389-CA37-87E6-9B97-6F618CA89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 &amp; Responsibilities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13" name="Rectángulo 15">
            <a:extLst>
              <a:ext uri="{FF2B5EF4-FFF2-40B4-BE49-F238E27FC236}">
                <a16:creationId xmlns:a16="http://schemas.microsoft.com/office/drawing/2014/main" id="{7AA7AEB4-15B7-61C0-6D81-EFB586A71E9E}"/>
              </a:ext>
            </a:extLst>
          </p:cNvPr>
          <p:cNvSpPr/>
          <p:nvPr/>
        </p:nvSpPr>
        <p:spPr>
          <a:xfrm>
            <a:off x="260350" y="1224735"/>
            <a:ext cx="2889250" cy="431679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Sales</a:t>
            </a:r>
          </a:p>
        </p:txBody>
      </p:sp>
      <p:sp>
        <p:nvSpPr>
          <p:cNvPr id="15" name="Rectángulo 15">
            <a:extLst>
              <a:ext uri="{FF2B5EF4-FFF2-40B4-BE49-F238E27FC236}">
                <a16:creationId xmlns:a16="http://schemas.microsoft.com/office/drawing/2014/main" id="{74953B9C-B4EF-CBB3-412A-8DF1518F424C}"/>
              </a:ext>
            </a:extLst>
          </p:cNvPr>
          <p:cNvSpPr/>
          <p:nvPr/>
        </p:nvSpPr>
        <p:spPr>
          <a:xfrm>
            <a:off x="260350" y="1740715"/>
            <a:ext cx="11480800" cy="352343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0"/>
              </a:spcAft>
            </a:pPr>
            <a:r>
              <a:rPr lang="en-AU" sz="1200" b="1" noProof="0" dirty="0">
                <a:solidFill>
                  <a:schemeClr val="tx1"/>
                </a:solidFill>
                <a:ea typeface="Calibri" panose="020F0502020204030204" pitchFamily="34" charset="0"/>
              </a:rPr>
              <a:t>Key Responsibilities:</a:t>
            </a:r>
          </a:p>
          <a:p>
            <a:pPr>
              <a:spcAft>
                <a:spcPts val="0"/>
              </a:spcAft>
            </a:pPr>
            <a:endParaRPr lang="en-AU" sz="1100" b="1" noProof="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Lead Generation &amp; Qualification </a:t>
            </a:r>
            <a:endParaRPr lang="en-AU" sz="12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Identify and research potential clients and market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Generate new leads through various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Qualify leads to determine their potential fit and need for Markman Group's services.</a:t>
            </a:r>
          </a:p>
          <a:p>
            <a:endParaRPr lang="en-AU" sz="1200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Product/Services Sales: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Present, promote, and sell Markman Group's consulting services to prospective clients.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Build and maintain strong relationships with potential and existing clients.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Negotiate contract terms and close sales agreements.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AU" sz="1200" b="1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Proposal Development Collaboration: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Work closely with Solution Leads to understand client requirements and develop tailored proposals that accurately reflect the scope and value of the 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Ensure proposals are compelling, competitive, and aligned with client expectations.</a:t>
            </a:r>
          </a:p>
          <a:p>
            <a:endParaRPr lang="en-AU" sz="1200" b="1" dirty="0">
              <a:solidFill>
                <a:schemeClr val="tx1"/>
              </a:solidFill>
            </a:endParaRPr>
          </a:p>
          <a:p>
            <a:r>
              <a:rPr lang="en-AU" sz="1200" b="1" dirty="0">
                <a:solidFill>
                  <a:schemeClr val="tx1"/>
                </a:solidFill>
              </a:rPr>
              <a:t>Market Feedback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Gather market intelligence and client feedback to inform product/service development and sales strategies.</a:t>
            </a:r>
            <a:endParaRPr lang="en-AU" sz="1200" dirty="0">
              <a:solidFill>
                <a:schemeClr val="tx1"/>
              </a:solidFill>
            </a:endParaRPr>
          </a:p>
          <a:p>
            <a:pPr>
              <a:spcAft>
                <a:spcPts val="0"/>
              </a:spcAft>
            </a:pPr>
            <a:endParaRPr lang="en-AU" sz="1100" noProof="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89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>
          <a:extLst>
            <a:ext uri="{FF2B5EF4-FFF2-40B4-BE49-F238E27FC236}">
              <a16:creationId xmlns:a16="http://schemas.microsoft.com/office/drawing/2014/main" id="{3B9A9D66-66A8-82BE-C00C-6A5389D2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C346C93E-E0A4-B258-7321-C16234F9EE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Team Roles &amp; Responsibilities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13" name="Rectángulo 15">
            <a:extLst>
              <a:ext uri="{FF2B5EF4-FFF2-40B4-BE49-F238E27FC236}">
                <a16:creationId xmlns:a16="http://schemas.microsoft.com/office/drawing/2014/main" id="{D5C6B6BA-7C9D-073A-C2A8-83C32C9FCA53}"/>
              </a:ext>
            </a:extLst>
          </p:cNvPr>
          <p:cNvSpPr/>
          <p:nvPr/>
        </p:nvSpPr>
        <p:spPr>
          <a:xfrm>
            <a:off x="260350" y="1224735"/>
            <a:ext cx="2889250" cy="431679"/>
          </a:xfrm>
          <a:prstGeom prst="rect">
            <a:avLst/>
          </a:prstGeom>
          <a:solidFill>
            <a:srgbClr val="5A1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de-DE" sz="1400" dirty="0">
                <a:solidFill>
                  <a:schemeClr val="bg1"/>
                </a:solidFill>
                <a:ea typeface="Calibri" panose="020F0502020204030204" pitchFamily="34" charset="0"/>
              </a:rPr>
              <a:t>Maintenance &amp; Support </a:t>
            </a:r>
          </a:p>
        </p:txBody>
      </p:sp>
      <p:sp>
        <p:nvSpPr>
          <p:cNvPr id="15" name="Rectángulo 15">
            <a:extLst>
              <a:ext uri="{FF2B5EF4-FFF2-40B4-BE49-F238E27FC236}">
                <a16:creationId xmlns:a16="http://schemas.microsoft.com/office/drawing/2014/main" id="{965D3C80-46F0-F9B9-437C-8088661B3FC5}"/>
              </a:ext>
            </a:extLst>
          </p:cNvPr>
          <p:cNvSpPr/>
          <p:nvPr/>
        </p:nvSpPr>
        <p:spPr>
          <a:xfrm>
            <a:off x="260350" y="1740715"/>
            <a:ext cx="11480800" cy="274238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0"/>
              </a:spcAft>
            </a:pPr>
            <a:r>
              <a:rPr lang="en-AU" sz="1200" b="1" noProof="0" dirty="0">
                <a:solidFill>
                  <a:schemeClr val="tx1"/>
                </a:solidFill>
                <a:ea typeface="Calibri" panose="020F0502020204030204" pitchFamily="34" charset="0"/>
              </a:rPr>
              <a:t>Key Responsibilities:</a:t>
            </a:r>
          </a:p>
          <a:p>
            <a:pPr>
              <a:spcAft>
                <a:spcPts val="0"/>
              </a:spcAft>
            </a:pPr>
            <a:endParaRPr lang="en-AU" sz="1100" b="1" noProof="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Post-Deployment Maintenance</a:t>
            </a:r>
            <a:endParaRPr lang="en-AU" sz="12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Deliver ongoing maintenance services for products and solutions that are live and for which clients have contracted support agreements.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Perform routine checks, updates, and preventative measures to ensure optimal performance and security.</a:t>
            </a:r>
          </a:p>
          <a:p>
            <a:endParaRPr lang="en-AU" sz="1200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Issue Resolution &amp; Troubleshooting: 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Receive, log, and prioritize client support requests and reported issues.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Diagnose and troubleshoot technical problems, implementing timely and effective fixes.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Escalate complex issues to relevant internal teams (e.g., Solution Leads, Infra Lead) when necessary, and manage resolution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AU" sz="1200" b="1" noProof="0" dirty="0">
              <a:solidFill>
                <a:schemeClr val="tx1"/>
              </a:solidFill>
            </a:endParaRPr>
          </a:p>
          <a:p>
            <a:r>
              <a:rPr lang="en-AU" sz="1200" b="1" noProof="0" dirty="0">
                <a:solidFill>
                  <a:schemeClr val="tx1"/>
                </a:solidFill>
              </a:rPr>
              <a:t>Client 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Provide clear, timely, and professional communication to clients regarding issue status, resolution, and maintenance activities.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Maintain a high level of client satisfaction through responsive and effective support.</a:t>
            </a:r>
          </a:p>
          <a:p>
            <a:pPr>
              <a:spcAft>
                <a:spcPts val="0"/>
              </a:spcAft>
            </a:pPr>
            <a:endParaRPr lang="en-AU" sz="1100" noProof="0" dirty="0">
              <a:solidFill>
                <a:schemeClr val="tx1"/>
              </a:solidFill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45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48"/>
          <p:cNvSpPr/>
          <p:nvPr/>
        </p:nvSpPr>
        <p:spPr>
          <a:xfrm>
            <a:off x="8507474" y="3205891"/>
            <a:ext cx="1129279" cy="977954"/>
          </a:xfrm>
          <a:custGeom>
            <a:avLst/>
            <a:gdLst/>
            <a:ahLst/>
            <a:cxnLst/>
            <a:rect l="l" t="t" r="r" b="b"/>
            <a:pathLst>
              <a:path w="57768" h="50027" extrusionOk="0">
                <a:moveTo>
                  <a:pt x="14439" y="0"/>
                </a:moveTo>
                <a:lnTo>
                  <a:pt x="1" y="25013"/>
                </a:lnTo>
                <a:lnTo>
                  <a:pt x="14439" y="50027"/>
                </a:lnTo>
                <a:lnTo>
                  <a:pt x="43329" y="50027"/>
                </a:lnTo>
                <a:lnTo>
                  <a:pt x="57767" y="25013"/>
                </a:lnTo>
                <a:lnTo>
                  <a:pt x="43329" y="0"/>
                </a:lnTo>
                <a:close/>
              </a:path>
            </a:pathLst>
          </a:custGeom>
          <a:noFill/>
          <a:ln w="28575" cap="flat" cmpd="sng">
            <a:solidFill>
              <a:srgbClr val="921D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E166B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88" name="Google Shape;1788;p148"/>
          <p:cNvSpPr/>
          <p:nvPr/>
        </p:nvSpPr>
        <p:spPr>
          <a:xfrm>
            <a:off x="4034264" y="3695313"/>
            <a:ext cx="1129172" cy="977509"/>
          </a:xfrm>
          <a:custGeom>
            <a:avLst/>
            <a:gdLst/>
            <a:ahLst/>
            <a:cxnLst/>
            <a:rect l="l" t="t" r="r" b="b"/>
            <a:pathLst>
              <a:path w="57780" h="50027" extrusionOk="0">
                <a:moveTo>
                  <a:pt x="14452" y="0"/>
                </a:moveTo>
                <a:lnTo>
                  <a:pt x="0" y="25013"/>
                </a:lnTo>
                <a:lnTo>
                  <a:pt x="14452" y="50027"/>
                </a:lnTo>
                <a:lnTo>
                  <a:pt x="43328" y="50027"/>
                </a:lnTo>
                <a:lnTo>
                  <a:pt x="57780" y="25013"/>
                </a:lnTo>
                <a:lnTo>
                  <a:pt x="43328" y="0"/>
                </a:lnTo>
                <a:close/>
              </a:path>
            </a:pathLst>
          </a:custGeom>
          <a:noFill/>
          <a:ln w="28575" cap="flat" cmpd="sng">
            <a:solidFill>
              <a:srgbClr val="921D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E166B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89" name="Google Shape;1789;p148"/>
          <p:cNvSpPr/>
          <p:nvPr/>
        </p:nvSpPr>
        <p:spPr>
          <a:xfrm>
            <a:off x="5531367" y="3205891"/>
            <a:ext cx="1129259" cy="977954"/>
          </a:xfrm>
          <a:custGeom>
            <a:avLst/>
            <a:gdLst/>
            <a:ahLst/>
            <a:cxnLst/>
            <a:rect l="l" t="t" r="r" b="b"/>
            <a:pathLst>
              <a:path w="57767" h="50027" extrusionOk="0">
                <a:moveTo>
                  <a:pt x="14439" y="0"/>
                </a:moveTo>
                <a:lnTo>
                  <a:pt x="0" y="25013"/>
                </a:lnTo>
                <a:lnTo>
                  <a:pt x="14439" y="50027"/>
                </a:lnTo>
                <a:lnTo>
                  <a:pt x="43328" y="50027"/>
                </a:lnTo>
                <a:lnTo>
                  <a:pt x="57767" y="25013"/>
                </a:lnTo>
                <a:lnTo>
                  <a:pt x="43328" y="0"/>
                </a:lnTo>
                <a:close/>
              </a:path>
            </a:pathLst>
          </a:custGeom>
          <a:noFill/>
          <a:ln w="28575" cap="flat" cmpd="sng">
            <a:solidFill>
              <a:srgbClr val="921D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E166B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90" name="Google Shape;1790;p148"/>
          <p:cNvSpPr/>
          <p:nvPr/>
        </p:nvSpPr>
        <p:spPr>
          <a:xfrm>
            <a:off x="2158769" y="3506236"/>
            <a:ext cx="7874457" cy="863954"/>
          </a:xfrm>
          <a:custGeom>
            <a:avLst/>
            <a:gdLst/>
            <a:ahLst/>
            <a:cxnLst/>
            <a:rect l="l" t="t" r="r" b="b"/>
            <a:pathLst>
              <a:path w="285373" h="31310" fill="none" extrusionOk="0">
                <a:moveTo>
                  <a:pt x="285373" y="3317"/>
                </a:moveTo>
                <a:lnTo>
                  <a:pt x="269256" y="31309"/>
                </a:lnTo>
                <a:lnTo>
                  <a:pt x="233095" y="31309"/>
                </a:lnTo>
                <a:lnTo>
                  <a:pt x="215067" y="352"/>
                </a:lnTo>
                <a:lnTo>
                  <a:pt x="179426" y="352"/>
                </a:lnTo>
                <a:lnTo>
                  <a:pt x="161606" y="31218"/>
                </a:lnTo>
                <a:lnTo>
                  <a:pt x="125718" y="31309"/>
                </a:lnTo>
                <a:lnTo>
                  <a:pt x="107651" y="0"/>
                </a:lnTo>
                <a:lnTo>
                  <a:pt x="71490" y="0"/>
                </a:lnTo>
                <a:lnTo>
                  <a:pt x="53669" y="31075"/>
                </a:lnTo>
                <a:lnTo>
                  <a:pt x="18042" y="31075"/>
                </a:lnTo>
                <a:lnTo>
                  <a:pt x="0" y="118"/>
                </a:lnTo>
              </a:path>
            </a:pathLst>
          </a:custGeom>
          <a:noFill/>
          <a:ln w="76200" cap="flat" cmpd="sng">
            <a:solidFill>
              <a:srgbClr val="D6D2E6"/>
            </a:solidFill>
            <a:prstDash val="solid"/>
            <a:miter lim="13007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E166B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03" name="Google Shape;1803;p148"/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Offerings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E93469D-31AB-1EC9-7DEB-3036235F8B9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035474" y="2452194"/>
            <a:ext cx="2073275" cy="6207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  <a:defRPr/>
            </a:pPr>
            <a:r>
              <a:rPr lang="es-ES" sz="1600" b="1" kern="0" dirty="0">
                <a:solidFill>
                  <a:srgbClr val="0E166B"/>
                </a:solidFill>
                <a:latin typeface="Josefin Sans" panose="020F0502020204030204" pitchFamily="2" charset="0"/>
              </a:rPr>
              <a:t>PROCESS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  <a:defRPr/>
            </a:pPr>
            <a:r>
              <a:rPr lang="es-ES" sz="1600" b="1" kern="0" dirty="0">
                <a:solidFill>
                  <a:srgbClr val="0E166B"/>
                </a:solidFill>
                <a:latin typeface="Josefin Sans" panose="020F0502020204030204" pitchFamily="2" charset="0"/>
              </a:rPr>
              <a:t>AUTOMATION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BAC4112-94C1-18E1-0334-2D27C6986D6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835525" y="2505075"/>
            <a:ext cx="2519363" cy="62071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quada One"/>
              <a:buNone/>
              <a:tabLst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0E166B"/>
                </a:solidFill>
                <a:effectLst/>
                <a:uLnTx/>
                <a:uFillTx/>
                <a:latin typeface="Josefin Sans" panose="020F0502020204030204" pitchFamily="2" charset="0"/>
                <a:sym typeface="Squada One"/>
              </a:rPr>
              <a:t>DATA ENGINEERING &amp; INFRASTRUCTURE</a:t>
            </a:r>
          </a:p>
          <a:p>
            <a:endParaRPr lang="es-ES" b="1" dirty="0">
              <a:solidFill>
                <a:srgbClr val="0E166B"/>
              </a:solidFill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AF064464-8FA8-F09A-F96F-842F884BE4F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302253" y="4808028"/>
            <a:ext cx="2592388" cy="619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quada One"/>
              <a:buNone/>
              <a:tabLst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0E166B"/>
                </a:solidFill>
                <a:effectLst/>
                <a:uLnTx/>
                <a:uFillTx/>
                <a:latin typeface="Josefin Sans" panose="020F0502020204030204" pitchFamily="2" charset="0"/>
                <a:sym typeface="Squada One"/>
              </a:rPr>
              <a:t>PROCESS DISCOVERY &amp; STRATEGY</a:t>
            </a:r>
          </a:p>
          <a:p>
            <a:endParaRPr lang="es-ES" b="1" dirty="0">
              <a:solidFill>
                <a:srgbClr val="0E166B"/>
              </a:solidFill>
            </a:endParaRP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890478D-EC95-1633-5B19-1B8935493FC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555764" y="4803520"/>
            <a:ext cx="2074863" cy="619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quada One"/>
              <a:buNone/>
              <a:tabLst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0E166B"/>
                </a:solidFill>
                <a:effectLst/>
                <a:uLnTx/>
                <a:uFillTx/>
                <a:latin typeface="Josefin Sans" panose="020F0502020204030204" pitchFamily="2" charset="0"/>
                <a:sym typeface="Squada One"/>
              </a:rPr>
              <a:t>REPORTING &amp; ANALYTICS</a:t>
            </a:r>
          </a:p>
          <a:p>
            <a:endParaRPr lang="es-ES" b="1" dirty="0">
              <a:solidFill>
                <a:srgbClr val="0E166B"/>
              </a:solidFill>
            </a:endParaRPr>
          </a:p>
        </p:txBody>
      </p:sp>
      <p:pic>
        <p:nvPicPr>
          <p:cNvPr id="16" name="Graphic 15" descr="Business Growth with solid fill">
            <a:extLst>
              <a:ext uri="{FF2B5EF4-FFF2-40B4-BE49-F238E27FC236}">
                <a16:creationId xmlns:a16="http://schemas.microsoft.com/office/drawing/2014/main" id="{2EE8F1FC-76E0-D125-960B-C342E9BC2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1181" y="3818085"/>
            <a:ext cx="732376" cy="731520"/>
          </a:xfrm>
          <a:prstGeom prst="rect">
            <a:avLst/>
          </a:prstGeom>
        </p:spPr>
      </p:pic>
      <p:pic>
        <p:nvPicPr>
          <p:cNvPr id="20" name="Graphic 19" descr="Briefcase with solid fill">
            <a:extLst>
              <a:ext uri="{FF2B5EF4-FFF2-40B4-BE49-F238E27FC236}">
                <a16:creationId xmlns:a16="http://schemas.microsoft.com/office/drawing/2014/main" id="{A06A77E4-2E92-917D-351D-D2B7084E79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0630" y="3314914"/>
            <a:ext cx="731520" cy="731520"/>
          </a:xfrm>
          <a:prstGeom prst="rect">
            <a:avLst/>
          </a:prstGeom>
        </p:spPr>
      </p:pic>
      <p:pic>
        <p:nvPicPr>
          <p:cNvPr id="22" name="Graphic 21" descr="Clipboard outline">
            <a:extLst>
              <a:ext uri="{FF2B5EF4-FFF2-40B4-BE49-F238E27FC236}">
                <a16:creationId xmlns:a16="http://schemas.microsoft.com/office/drawing/2014/main" id="{87325ED0-300F-EA2B-2032-0A9EC9DE32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33047" y="3827747"/>
            <a:ext cx="731520" cy="731520"/>
          </a:xfrm>
          <a:prstGeom prst="rect">
            <a:avLst/>
          </a:prstGeom>
        </p:spPr>
      </p:pic>
      <p:pic>
        <p:nvPicPr>
          <p:cNvPr id="23" name="Graphic 22" descr="Gears outline">
            <a:extLst>
              <a:ext uri="{FF2B5EF4-FFF2-40B4-BE49-F238E27FC236}">
                <a16:creationId xmlns:a16="http://schemas.microsoft.com/office/drawing/2014/main" id="{77975B98-4894-0284-4F0D-D42F3649AA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7858" y="3314914"/>
            <a:ext cx="868509" cy="731520"/>
          </a:xfrm>
          <a:prstGeom prst="rect">
            <a:avLst/>
          </a:prstGeom>
        </p:spPr>
      </p:pic>
      <p:sp>
        <p:nvSpPr>
          <p:cNvPr id="24" name="Google Shape;1789;p148">
            <a:extLst>
              <a:ext uri="{FF2B5EF4-FFF2-40B4-BE49-F238E27FC236}">
                <a16:creationId xmlns:a16="http://schemas.microsoft.com/office/drawing/2014/main" id="{90E61F54-90B8-58C8-D240-A6989DA8AC34}"/>
              </a:ext>
            </a:extLst>
          </p:cNvPr>
          <p:cNvSpPr/>
          <p:nvPr/>
        </p:nvSpPr>
        <p:spPr>
          <a:xfrm>
            <a:off x="2592297" y="3210677"/>
            <a:ext cx="1129259" cy="977954"/>
          </a:xfrm>
          <a:custGeom>
            <a:avLst/>
            <a:gdLst/>
            <a:ahLst/>
            <a:cxnLst/>
            <a:rect l="l" t="t" r="r" b="b"/>
            <a:pathLst>
              <a:path w="57767" h="50027" extrusionOk="0">
                <a:moveTo>
                  <a:pt x="14439" y="0"/>
                </a:moveTo>
                <a:lnTo>
                  <a:pt x="0" y="25013"/>
                </a:lnTo>
                <a:lnTo>
                  <a:pt x="14439" y="50027"/>
                </a:lnTo>
                <a:lnTo>
                  <a:pt x="43328" y="50027"/>
                </a:lnTo>
                <a:lnTo>
                  <a:pt x="57767" y="25013"/>
                </a:lnTo>
                <a:lnTo>
                  <a:pt x="43328" y="0"/>
                </a:lnTo>
                <a:close/>
              </a:path>
            </a:pathLst>
          </a:custGeom>
          <a:noFill/>
          <a:ln w="28575" cap="flat" cmpd="sng">
            <a:solidFill>
              <a:srgbClr val="921D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E166B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1786;p148">
            <a:extLst>
              <a:ext uri="{FF2B5EF4-FFF2-40B4-BE49-F238E27FC236}">
                <a16:creationId xmlns:a16="http://schemas.microsoft.com/office/drawing/2014/main" id="{99CA014D-D555-4EE9-4A62-82002C36CACA}"/>
              </a:ext>
            </a:extLst>
          </p:cNvPr>
          <p:cNvSpPr/>
          <p:nvPr/>
        </p:nvSpPr>
        <p:spPr>
          <a:xfrm>
            <a:off x="7028557" y="3694868"/>
            <a:ext cx="1129279" cy="977954"/>
          </a:xfrm>
          <a:custGeom>
            <a:avLst/>
            <a:gdLst/>
            <a:ahLst/>
            <a:cxnLst/>
            <a:rect l="l" t="t" r="r" b="b"/>
            <a:pathLst>
              <a:path w="57768" h="50027" extrusionOk="0">
                <a:moveTo>
                  <a:pt x="14439" y="0"/>
                </a:moveTo>
                <a:lnTo>
                  <a:pt x="1" y="25013"/>
                </a:lnTo>
                <a:lnTo>
                  <a:pt x="14439" y="50027"/>
                </a:lnTo>
                <a:lnTo>
                  <a:pt x="43329" y="50027"/>
                </a:lnTo>
                <a:lnTo>
                  <a:pt x="57767" y="25013"/>
                </a:lnTo>
                <a:lnTo>
                  <a:pt x="43329" y="0"/>
                </a:lnTo>
                <a:close/>
              </a:path>
            </a:pathLst>
          </a:custGeom>
          <a:noFill/>
          <a:ln w="28575" cap="flat" cmpd="sng">
            <a:solidFill>
              <a:srgbClr val="921D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E166B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" name="Subtitle 12">
            <a:extLst>
              <a:ext uri="{FF2B5EF4-FFF2-40B4-BE49-F238E27FC236}">
                <a16:creationId xmlns:a16="http://schemas.microsoft.com/office/drawing/2014/main" id="{96272BB5-B218-2C51-9BAC-E7379407F037}"/>
              </a:ext>
            </a:extLst>
          </p:cNvPr>
          <p:cNvSpPr txBox="1">
            <a:spLocks/>
          </p:cNvSpPr>
          <p:nvPr/>
        </p:nvSpPr>
        <p:spPr>
          <a:xfrm>
            <a:off x="1854721" y="2553844"/>
            <a:ext cx="2592388" cy="619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100"/>
              <a:buFont typeface="Squada One"/>
              <a:buNone/>
              <a:defRPr/>
            </a:pPr>
            <a:r>
              <a:rPr lang="es-ES" sz="1600" b="1" kern="0" dirty="0">
                <a:solidFill>
                  <a:srgbClr val="0E166B"/>
                </a:solidFill>
                <a:latin typeface="Josefin Sans" panose="020F0502020204030204" pitchFamily="2" charset="0"/>
                <a:sym typeface="Squada One"/>
              </a:rPr>
              <a:t>TAILORED APPLICATION DEVELOPMENT</a:t>
            </a:r>
          </a:p>
          <a:p>
            <a:endParaRPr lang="es-ES" b="1" dirty="0">
              <a:solidFill>
                <a:srgbClr val="0E166B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372EFAD-366D-5EFE-1E80-ED4E8CBD1C0A}"/>
              </a:ext>
            </a:extLst>
          </p:cNvPr>
          <p:cNvSpPr/>
          <p:nvPr/>
        </p:nvSpPr>
        <p:spPr>
          <a:xfrm>
            <a:off x="5764612" y="3411414"/>
            <a:ext cx="382097" cy="538520"/>
          </a:xfrm>
          <a:custGeom>
            <a:avLst/>
            <a:gdLst>
              <a:gd name="connsiteX0" fmla="*/ 292103 w 584206"/>
              <a:gd name="connsiteY0" fmla="*/ 0 h 704850"/>
              <a:gd name="connsiteX1" fmla="*/ 0 w 584206"/>
              <a:gd name="connsiteY1" fmla="*/ 117472 h 704850"/>
              <a:gd name="connsiteX2" fmla="*/ 0 w 584206"/>
              <a:gd name="connsiteY2" fmla="*/ 587378 h 704850"/>
              <a:gd name="connsiteX3" fmla="*/ 292103 w 584206"/>
              <a:gd name="connsiteY3" fmla="*/ 704850 h 704850"/>
              <a:gd name="connsiteX4" fmla="*/ 584206 w 584206"/>
              <a:gd name="connsiteY4" fmla="*/ 587378 h 704850"/>
              <a:gd name="connsiteX5" fmla="*/ 584206 w 584206"/>
              <a:gd name="connsiteY5" fmla="*/ 117472 h 704850"/>
              <a:gd name="connsiteX6" fmla="*/ 292103 w 584206"/>
              <a:gd name="connsiteY6" fmla="*/ 0 h 704850"/>
              <a:gd name="connsiteX7" fmla="*/ 292103 w 584206"/>
              <a:gd name="connsiteY7" fmla="*/ 57150 h 704850"/>
              <a:gd name="connsiteX8" fmla="*/ 527056 w 584206"/>
              <a:gd name="connsiteY8" fmla="*/ 117472 h 704850"/>
              <a:gd name="connsiteX9" fmla="*/ 292103 w 584206"/>
              <a:gd name="connsiteY9" fmla="*/ 177803 h 704850"/>
              <a:gd name="connsiteX10" fmla="*/ 57150 w 584206"/>
              <a:gd name="connsiteY10" fmla="*/ 117472 h 704850"/>
              <a:gd name="connsiteX11" fmla="*/ 292103 w 584206"/>
              <a:gd name="connsiteY11" fmla="*/ 57150 h 704850"/>
              <a:gd name="connsiteX12" fmla="*/ 292103 w 584206"/>
              <a:gd name="connsiteY12" fmla="*/ 647700 h 704850"/>
              <a:gd name="connsiteX13" fmla="*/ 57150 w 584206"/>
              <a:gd name="connsiteY13" fmla="*/ 587378 h 704850"/>
              <a:gd name="connsiteX14" fmla="*/ 57150 w 584206"/>
              <a:gd name="connsiteY14" fmla="*/ 191043 h 704850"/>
              <a:gd name="connsiteX15" fmla="*/ 292103 w 584206"/>
              <a:gd name="connsiteY15" fmla="*/ 234953 h 704850"/>
              <a:gd name="connsiteX16" fmla="*/ 527056 w 584206"/>
              <a:gd name="connsiteY16" fmla="*/ 191043 h 704850"/>
              <a:gd name="connsiteX17" fmla="*/ 527056 w 584206"/>
              <a:gd name="connsiteY17" fmla="*/ 587378 h 704850"/>
              <a:gd name="connsiteX18" fmla="*/ 292103 w 584206"/>
              <a:gd name="connsiteY18" fmla="*/ 64770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4206" h="704850">
                <a:moveTo>
                  <a:pt x="292103" y="0"/>
                </a:moveTo>
                <a:cubicBezTo>
                  <a:pt x="151419" y="0"/>
                  <a:pt x="0" y="36757"/>
                  <a:pt x="0" y="117472"/>
                </a:cubicBezTo>
                <a:lnTo>
                  <a:pt x="0" y="587378"/>
                </a:lnTo>
                <a:cubicBezTo>
                  <a:pt x="0" y="668093"/>
                  <a:pt x="151419" y="704850"/>
                  <a:pt x="292103" y="704850"/>
                </a:cubicBezTo>
                <a:cubicBezTo>
                  <a:pt x="432787" y="704850"/>
                  <a:pt x="584206" y="668093"/>
                  <a:pt x="584206" y="587378"/>
                </a:cubicBezTo>
                <a:lnTo>
                  <a:pt x="584206" y="117472"/>
                </a:lnTo>
                <a:cubicBezTo>
                  <a:pt x="584206" y="36757"/>
                  <a:pt x="432787" y="0"/>
                  <a:pt x="292103" y="0"/>
                </a:cubicBezTo>
                <a:close/>
                <a:moveTo>
                  <a:pt x="292103" y="57150"/>
                </a:moveTo>
                <a:cubicBezTo>
                  <a:pt x="444722" y="57150"/>
                  <a:pt x="527056" y="100013"/>
                  <a:pt x="527056" y="117472"/>
                </a:cubicBezTo>
                <a:cubicBezTo>
                  <a:pt x="527056" y="134931"/>
                  <a:pt x="444722" y="177803"/>
                  <a:pt x="292103" y="177803"/>
                </a:cubicBezTo>
                <a:cubicBezTo>
                  <a:pt x="139484" y="177803"/>
                  <a:pt x="57150" y="134941"/>
                  <a:pt x="57150" y="117472"/>
                </a:cubicBezTo>
                <a:cubicBezTo>
                  <a:pt x="57150" y="100003"/>
                  <a:pt x="139484" y="57150"/>
                  <a:pt x="292103" y="57150"/>
                </a:cubicBezTo>
                <a:close/>
                <a:moveTo>
                  <a:pt x="292103" y="647700"/>
                </a:moveTo>
                <a:cubicBezTo>
                  <a:pt x="139484" y="647700"/>
                  <a:pt x="57150" y="604838"/>
                  <a:pt x="57150" y="587378"/>
                </a:cubicBezTo>
                <a:lnTo>
                  <a:pt x="57150" y="191043"/>
                </a:lnTo>
                <a:cubicBezTo>
                  <a:pt x="114014" y="220866"/>
                  <a:pt x="205092" y="234953"/>
                  <a:pt x="292103" y="234953"/>
                </a:cubicBezTo>
                <a:cubicBezTo>
                  <a:pt x="379114" y="234953"/>
                  <a:pt x="470221" y="220866"/>
                  <a:pt x="527056" y="191043"/>
                </a:cubicBezTo>
                <a:lnTo>
                  <a:pt x="527056" y="587378"/>
                </a:lnTo>
                <a:cubicBezTo>
                  <a:pt x="527056" y="604838"/>
                  <a:pt x="444722" y="647700"/>
                  <a:pt x="292103" y="647700"/>
                </a:cubicBezTo>
                <a:close/>
              </a:path>
            </a:pathLst>
          </a:custGeom>
          <a:solidFill>
            <a:srgbClr val="921D86"/>
          </a:solidFill>
          <a:ln w="7541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pic>
        <p:nvPicPr>
          <p:cNvPr id="38" name="Graphic 37" descr="Single gear with solid fill">
            <a:extLst>
              <a:ext uri="{FF2B5EF4-FFF2-40B4-BE49-F238E27FC236}">
                <a16:creationId xmlns:a16="http://schemas.microsoft.com/office/drawing/2014/main" id="{96DAB3C4-35E9-6F06-6EF6-2D1BD3BA44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93331" y="3275957"/>
            <a:ext cx="619125" cy="619125"/>
          </a:xfrm>
          <a:prstGeom prst="rect">
            <a:avLst/>
          </a:prstGeom>
        </p:spPr>
      </p:pic>
      <p:pic>
        <p:nvPicPr>
          <p:cNvPr id="39" name="Graphic 38" descr="Single gear with solid fill">
            <a:extLst>
              <a:ext uri="{FF2B5EF4-FFF2-40B4-BE49-F238E27FC236}">
                <a16:creationId xmlns:a16="http://schemas.microsoft.com/office/drawing/2014/main" id="{31E49CF5-C799-3939-A2CB-07DA7E0F0A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2005" y="3506236"/>
            <a:ext cx="619125" cy="61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A7CCF074945C458E763B35EFF0EB17" ma:contentTypeVersion="14" ma:contentTypeDescription="Crear nuevo documento." ma:contentTypeScope="" ma:versionID="6381d9d23de6f0bd0cdcb16928bc3725">
  <xsd:schema xmlns:xsd="http://www.w3.org/2001/XMLSchema" xmlns:xs="http://www.w3.org/2001/XMLSchema" xmlns:p="http://schemas.microsoft.com/office/2006/metadata/properties" xmlns:ns2="21c6af6a-abea-4b00-b9ae-aa6e65a324bd" xmlns:ns3="77241cf9-356c-49cf-9268-0e2f2cb2b01a" targetNamespace="http://schemas.microsoft.com/office/2006/metadata/properties" ma:root="true" ma:fieldsID="68180fc4e86740d46ab123064877335b" ns2:_="" ns3:_="">
    <xsd:import namespace="21c6af6a-abea-4b00-b9ae-aa6e65a324bd"/>
    <xsd:import namespace="77241cf9-356c-49cf-9268-0e2f2cb2b0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6af6a-abea-4b00-b9ae-aa6e65a324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54de5635-6b60-4da0-9662-165b06f903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241cf9-356c-49cf-9268-0e2f2cb2b01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aab5b83-e0ba-4340-bfc7-689fcb33e34c}" ma:internalName="TaxCatchAll" ma:showField="CatchAllData" ma:web="77241cf9-356c-49cf-9268-0e2f2cb2b0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241cf9-356c-49cf-9268-0e2f2cb2b01a" xsi:nil="true"/>
    <lcf76f155ced4ddcb4097134ff3c332f xmlns="21c6af6a-abea-4b00-b9ae-aa6e65a324b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3186452-F378-4DF5-90C9-8399693262D6}"/>
</file>

<file path=customXml/itemProps2.xml><?xml version="1.0" encoding="utf-8"?>
<ds:datastoreItem xmlns:ds="http://schemas.openxmlformats.org/officeDocument/2006/customXml" ds:itemID="{94D703AF-F6D0-4DC5-B2D9-12EC60E6D0AC}"/>
</file>

<file path=customXml/itemProps3.xml><?xml version="1.0" encoding="utf-8"?>
<ds:datastoreItem xmlns:ds="http://schemas.openxmlformats.org/officeDocument/2006/customXml" ds:itemID="{F4F101E1-36FD-41CA-940B-16384C2118ED}"/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1233</Words>
  <Application>Microsoft Office PowerPoint</Application>
  <PresentationFormat>Widescreen</PresentationFormat>
  <Paragraphs>156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Josefin Sans</vt:lpstr>
      <vt:lpstr>Josefin Sans SemiBold</vt:lpstr>
      <vt:lpstr>Squada One</vt:lpstr>
      <vt:lpstr>Office Theme</vt:lpstr>
      <vt:lpstr>PowerPoint Presentation</vt:lpstr>
      <vt:lpstr>Team Roles</vt:lpstr>
      <vt:lpstr>Team Roles &amp; Responsibilities</vt:lpstr>
      <vt:lpstr>Team Roles &amp; Responsibilities</vt:lpstr>
      <vt:lpstr>Team Roles &amp; Responsibilities</vt:lpstr>
      <vt:lpstr>Team Roles &amp; Responsibilities</vt:lpstr>
      <vt:lpstr>Team Roles &amp; Responsibilities</vt:lpstr>
      <vt:lpstr>Team Roles &amp; Responsibilities</vt:lpstr>
      <vt:lpstr>Team Roles &amp; Responsibilities</vt:lpstr>
      <vt:lpstr>Offerings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Tejada Izko</dc:creator>
  <cp:lastModifiedBy>Carmen Tejada Izko</cp:lastModifiedBy>
  <cp:revision>1</cp:revision>
  <dcterms:created xsi:type="dcterms:W3CDTF">2025-06-30T19:03:53Z</dcterms:created>
  <dcterms:modified xsi:type="dcterms:W3CDTF">2025-06-30T19:47:27Z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0x010100EAA7CCF074945C458E763B35EFF0EB17</vt:lpwstr>
  </property>
</Properties>
</file>